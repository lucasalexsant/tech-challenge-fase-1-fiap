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74F88-05F9-52C1-6FDE-0E3CA7491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044F5F-DCCA-03FA-C928-CE9E29D348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3DD900-2676-A551-ECF3-D5BAF5AF0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B4A5B-72F1-4910-8BBE-0272E87DAF7E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35D42D-238A-F36D-B50A-00555B19D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868AF6-8268-C35A-35AA-499E67A39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5BEBE-42E2-45B3-A3E0-EE9119F769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7682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3A2B7-B5F8-B944-821E-CB266253B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4E4685-BD93-863F-2447-21EC243E3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F7634E-5B62-DBD9-0714-889FE0873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B4A5B-72F1-4910-8BBE-0272E87DAF7E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6975CA-2578-2659-2F00-A6CA5E3C8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BE4366-D807-1217-D33F-449547B24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5BEBE-42E2-45B3-A3E0-EE9119F769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5539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FF1E87-2241-7C76-4D47-2A4461B17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A1FEA58-925C-F76F-211F-F4CEEF060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C76CC6-278A-C03C-5324-5A8A70FD5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B4A5B-72F1-4910-8BBE-0272E87DAF7E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BDC641-D822-51A5-ED5A-F643ECEA6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F38D12-E4E3-7FB0-6E6A-56314F6C5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5BEBE-42E2-45B3-A3E0-EE9119F769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1704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CD17F8-CB94-7A60-677B-9F45AE09D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F4F8A7-EE0A-8C02-6C3C-A8CB1972FD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1841D9-89E7-80A1-9538-87CE060166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CF79B0C-AC47-7643-7336-1C2F6979F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B4A5B-72F1-4910-8BBE-0272E87DAF7E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9123F7-86CE-E4ED-545A-667519432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48464A1-024E-FFE4-A8F8-B39A91116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5BEBE-42E2-45B3-A3E0-EE9119F769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6577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651838-985F-63F8-0007-70773B5ED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91F67E-AC8B-387B-6B9B-1661D4888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665F4DC-BCCB-E81F-18A7-A1DF3113E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C1A9765-F66C-4AA6-2A8E-4FEDBCA8CC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1442542-0E8C-AF20-62C6-61C370658B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73375AE-2AB7-9F70-0B6A-B9E8FCDB3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B4A5B-72F1-4910-8BBE-0272E87DAF7E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EEA8559-41F3-405F-2769-F524949F5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3CD5177-0045-4C66-616A-74861F056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5BEBE-42E2-45B3-A3E0-EE9119F769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4578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3CBCC7-F8BF-9DEA-3D28-E88AE0C95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B001D87-20D6-29DB-565C-1B32A9307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B4A5B-72F1-4910-8BBE-0272E87DAF7E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5D2B8CE-7D3F-8399-439C-729441228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BE5BCA5-4E89-194C-3C2A-EEE4A2BB3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5BEBE-42E2-45B3-A3E0-EE9119F769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973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B0D95D3-DC68-A3A9-AD07-159BF5A82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B4A5B-72F1-4910-8BBE-0272E87DAF7E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877977E-5B4F-F53C-FB83-5FC5A1869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814FE0E-BAA3-E894-F16E-A7FFD72F3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5BEBE-42E2-45B3-A3E0-EE9119F769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3043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DB6888-0A12-C618-7B03-174D9786A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066209-4261-F689-84A5-6B3E6E3FC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27D1D37-A025-485F-B6A4-388C889CA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A6D42D0-40BA-0535-4228-CE417E01E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B4A5B-72F1-4910-8BBE-0272E87DAF7E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577B88-364C-AEFB-BC23-4E8BE1E89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E2C3AE-CDEA-3517-3ECB-D079A3616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5BEBE-42E2-45B3-A3E0-EE9119F769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966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13E73-618B-7F32-3084-2A34C8982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D5E3511-D30B-C9A4-90B6-3A7D7BB3CB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370FA16-5F04-2371-9A45-CBFA42F32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3A542C8-9E6A-478F-4DEE-E5978F97A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B4A5B-72F1-4910-8BBE-0272E87DAF7E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144EE9-AD45-8EB9-4079-82F7B88B0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B9FACE-FF00-BC48-DAEF-A2FC06E6E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5BEBE-42E2-45B3-A3E0-EE9119F769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4713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5AFC82-ED87-5BC4-0444-A1818D084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428B576-26BC-96A2-24F1-CDA06F361B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0FC462-F9E7-E3A9-E2D2-241596D40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B4A5B-72F1-4910-8BBE-0272E87DAF7E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89A31C-8258-3524-24D2-8414D855D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05B7AF-1BB6-1E38-4333-D8385D771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5BEBE-42E2-45B3-A3E0-EE9119F769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4412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D16F1F1-A183-5E15-F54B-FBA17B0E44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CA9A395-E8F7-E056-44EE-E06F93508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2CF40D-E354-ED2A-7545-2004AB271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B4A5B-72F1-4910-8BBE-0272E87DAF7E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0C06C1-F298-5D9A-1913-B1F34B8D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63ED87-5701-E2C3-CE34-4342C2A85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5BEBE-42E2-45B3-A3E0-EE9119F769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5555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19E8C64-3B4D-E129-FB74-40B572B19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FCBC378-A04F-D0B4-FF1A-043CE5F62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263ED0-0D1A-5527-1A2F-BEA740B65E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4B4A5B-72F1-4910-8BBE-0272E87DAF7E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BADDEB-5DBD-5005-3F01-17B2A74384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8ADB60-0C27-3228-65DF-BAE024F065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95BEBE-42E2-45B3-A3E0-EE9119F769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9929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6478EC2D-B08F-49A8-2062-9FB3EB6D2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2782"/>
            <a:ext cx="10515600" cy="1325563"/>
          </a:xfrm>
        </p:spPr>
        <p:txBody>
          <a:bodyPr/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Tech-Challenge-Fase-1-FIAP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819C36D-9F38-973A-5FB3-B46D62B73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35286"/>
            <a:ext cx="10515600" cy="1441677"/>
          </a:xfrm>
        </p:spPr>
        <p:txBody>
          <a:bodyPr>
            <a:normAutofit fontScale="62500" lnSpcReduction="20000"/>
          </a:bodyPr>
          <a:lstStyle/>
          <a:p>
            <a:pPr marL="0" indent="0" algn="r">
              <a:buNone/>
            </a:pPr>
            <a:br>
              <a:rPr lang="pt-BR" dirty="0">
                <a:solidFill>
                  <a:schemeClr val="bg1"/>
                </a:solidFill>
              </a:rPr>
            </a:br>
            <a:r>
              <a:rPr lang="pt-BR" dirty="0">
                <a:solidFill>
                  <a:schemeClr val="bg1"/>
                </a:solidFill>
              </a:rPr>
              <a:t>Ederson dos Santos</a:t>
            </a:r>
          </a:p>
          <a:p>
            <a:pPr marL="0" indent="0" algn="r">
              <a:buNone/>
            </a:pPr>
            <a:r>
              <a:rPr lang="pt-BR" dirty="0">
                <a:solidFill>
                  <a:schemeClr val="bg1"/>
                </a:solidFill>
              </a:rPr>
              <a:t>Lucas Santana</a:t>
            </a:r>
          </a:p>
          <a:p>
            <a:pPr marL="0" indent="0" algn="r">
              <a:buNone/>
            </a:pPr>
            <a:r>
              <a:rPr lang="pt-BR" dirty="0">
                <a:solidFill>
                  <a:schemeClr val="bg1"/>
                </a:solidFill>
              </a:rPr>
              <a:t>Mayra RM000000</a:t>
            </a:r>
          </a:p>
          <a:p>
            <a:pPr marL="0" indent="0" algn="r">
              <a:buNone/>
            </a:pPr>
            <a:r>
              <a:rPr lang="pt-BR" dirty="0">
                <a:solidFill>
                  <a:schemeClr val="bg1"/>
                </a:solidFill>
              </a:rPr>
              <a:t>Pedro Cardoso</a:t>
            </a:r>
          </a:p>
          <a:p>
            <a:pPr marL="0" indent="0" algn="r">
              <a:buNone/>
            </a:pPr>
            <a:endParaRPr lang="pt-BR" dirty="0">
              <a:solidFill>
                <a:schemeClr val="bg1"/>
              </a:solidFill>
            </a:endParaRPr>
          </a:p>
          <a:p>
            <a:pPr marL="0" indent="0" algn="r">
              <a:buNone/>
            </a:pP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79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AECB94-6936-CFE9-E9CF-D16146D3A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B962D9-4F0A-B8BF-3912-ABFAEE20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Introdução — NPS e CSAT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B9E02AD-4797-6105-7F78-202C3C818691}"/>
              </a:ext>
            </a:extLst>
          </p:cNvPr>
          <p:cNvSpPr txBox="1"/>
          <p:nvPr/>
        </p:nvSpPr>
        <p:spPr>
          <a:xfrm>
            <a:off x="76201" y="1611085"/>
            <a:ext cx="12115800" cy="4664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NPS (Net Promoter Score) mede lealdade e recomendação do cliente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Classificação: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0 a 6 → Detratores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7 e 8 → Neutros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9 e 10 → Promotores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CSAT (Customer Satisfaction Score) mede a satisfação imediata do cliente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Focado em experiências pontuais como atendimento, entrega e resolução de problemas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Exemplo: “Quão satisfeito você ficou com seu atendimento?”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NPS avalia lealdade e intenção de recomendação no longo prazo, enquanto o CSAT mede a satisfação imediata do cliente em uma experiência específica</a:t>
            </a:r>
          </a:p>
        </p:txBody>
      </p:sp>
    </p:spTree>
    <p:extLst>
      <p:ext uri="{BB962C8B-B14F-4D97-AF65-F5344CB8AC3E}">
        <p14:creationId xmlns:p14="http://schemas.microsoft.com/office/powerpoint/2010/main" val="2570188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51FED-4511-8273-58B3-5874D2E46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F1309-6A62-291E-CDA4-4D384132A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</a:rPr>
              <a:t>Entendimento do negócio - Benchmark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45EEA7A-9B55-DB7A-029C-80E122C32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742" y="1507808"/>
            <a:ext cx="8419769" cy="4415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445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E7F677-C28D-74ED-389C-E75C7FC48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E1655D8-22AF-432C-D1E4-7F0496352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300" y="1027906"/>
            <a:ext cx="8979400" cy="577178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C6938BA-7BA3-FD7A-0153-F954B44A8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</a:rPr>
              <a:t>Entendimento do negócio - Data Canvas</a:t>
            </a:r>
          </a:p>
        </p:txBody>
      </p:sp>
    </p:spTree>
    <p:extLst>
      <p:ext uri="{BB962C8B-B14F-4D97-AF65-F5344CB8AC3E}">
        <p14:creationId xmlns:p14="http://schemas.microsoft.com/office/powerpoint/2010/main" val="1845649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A76D07-323F-FBD4-FF7B-24F0E4E41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7445A4-A9AC-0B71-FFFB-3662103A3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</a:rPr>
              <a:t>Entendimento dos Dados</a:t>
            </a:r>
            <a:endParaRPr lang="pt-BR" sz="4000" dirty="0">
              <a:solidFill>
                <a:schemeClr val="bg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76267B9-D494-E337-182C-C38A6C4DCC4C}"/>
              </a:ext>
            </a:extLst>
          </p:cNvPr>
          <p:cNvSpPr txBox="1"/>
          <p:nvPr/>
        </p:nvSpPr>
        <p:spPr>
          <a:xfrm>
            <a:off x="838200" y="1690688"/>
            <a:ext cx="560671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Perfil do Cliente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Idade do cliente </a:t>
            </a:r>
            <a:r>
              <a:rPr lang="pt-BR" sz="1400" i="1" dirty="0">
                <a:solidFill>
                  <a:schemeClr val="bg1"/>
                </a:solidFill>
              </a:rPr>
              <a:t>(Quantitativa | Discreta)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Região geográfica </a:t>
            </a:r>
            <a:r>
              <a:rPr lang="pt-BR" sz="1400" i="1" dirty="0">
                <a:solidFill>
                  <a:schemeClr val="bg1"/>
                </a:solidFill>
              </a:rPr>
              <a:t>(Qualitativa | Nominal)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Tempo de relacionamento com a empresa </a:t>
            </a:r>
            <a:r>
              <a:rPr lang="pt-BR" sz="1400" i="1" dirty="0">
                <a:solidFill>
                  <a:schemeClr val="bg1"/>
                </a:solidFill>
              </a:rPr>
              <a:t>(Quantitativa | Discreta)</a:t>
            </a:r>
            <a:endParaRPr lang="pt-BR" sz="1400" dirty="0">
              <a:solidFill>
                <a:schemeClr val="bg1"/>
              </a:solidFill>
            </a:endParaRPr>
          </a:p>
          <a:p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D63FF2F-1211-1947-57BB-83AE991AF77A}"/>
              </a:ext>
            </a:extLst>
          </p:cNvPr>
          <p:cNvSpPr txBox="1"/>
          <p:nvPr/>
        </p:nvSpPr>
        <p:spPr>
          <a:xfrm>
            <a:off x="6708007" y="1690688"/>
            <a:ext cx="515994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Dados do Pedido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Valor total do pedido (Quantitativa | Contínua)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Quantidade de itens (Quantitativa | Discreta)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Valor de desconto aplicado (Quantitativa | Contínua)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Número de parcelas (Quantitativa | Discreta)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5B0FA03-14DD-56B4-BE38-AA7BDB06F787}"/>
              </a:ext>
            </a:extLst>
          </p:cNvPr>
          <p:cNvSpPr txBox="1"/>
          <p:nvPr/>
        </p:nvSpPr>
        <p:spPr>
          <a:xfrm>
            <a:off x="838200" y="3016251"/>
            <a:ext cx="56067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Logística de Entrega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Tempo total de entrega (Quantitativa | Discreta)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Dias de atraso (Quantitativa | Discreta)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Valor do frete (Quantitativa | Contínua)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Tentativas de entrega (Quantitativa | Discreta)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B7E8234-1490-E6D1-1B1B-A62DB440DD3F}"/>
              </a:ext>
            </a:extLst>
          </p:cNvPr>
          <p:cNvSpPr txBox="1"/>
          <p:nvPr/>
        </p:nvSpPr>
        <p:spPr>
          <a:xfrm>
            <a:off x="6708007" y="3016250"/>
            <a:ext cx="56067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Atendimento e Suporte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Contatos com atendimento (Quantitativa | Discreta)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Tempo de resolução (Quantitativa | Discreta)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Quantidade de reclamações (Quantitativa | Discreta)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1AFCE9A-D0CD-D2A2-0174-2BE035FA8493}"/>
              </a:ext>
            </a:extLst>
          </p:cNvPr>
          <p:cNvSpPr txBox="1"/>
          <p:nvPr/>
        </p:nvSpPr>
        <p:spPr>
          <a:xfrm>
            <a:off x="3292642" y="4690258"/>
            <a:ext cx="56067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Indicadores de Resultado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Recompra em até 30 dias (Quantitativa | Discreta)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Score interno de satisfação – CSAT (Quantitativa | Contínua)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Nota final de satisfação – NPS (Quantitativa | Contínua)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626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64D282-742B-FB73-B532-48A278841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43E945-BDAF-9664-AF92-F4D722987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</a:rPr>
              <a:t>Análise exploratória de dados</a:t>
            </a:r>
            <a:endParaRPr lang="pt-BR" sz="4000" dirty="0">
              <a:solidFill>
                <a:schemeClr val="bg1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3BC851C-496B-00B4-D15B-CC1886AA7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23" y="1808081"/>
            <a:ext cx="5636862" cy="324183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EFE358F-611F-6770-D2DC-A3497C67DAC1}"/>
              </a:ext>
            </a:extLst>
          </p:cNvPr>
          <p:cNvSpPr txBox="1"/>
          <p:nvPr/>
        </p:nvSpPr>
        <p:spPr>
          <a:xfrm>
            <a:off x="6850448" y="2120312"/>
            <a:ext cx="50752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Pontos analisados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2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60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A536D9-0829-8806-5917-EDE515C74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FBEFFF-8152-7218-D438-464B5288F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</a:rPr>
              <a:t>Análise exploratória de dados</a:t>
            </a:r>
            <a:endParaRPr lang="pt-BR" sz="4000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C62FC1D-0069-4824-3E39-18A119411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2" y="2212858"/>
            <a:ext cx="6228504" cy="3158614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7381D6A-46BA-F762-16A5-26455C6F420A}"/>
              </a:ext>
            </a:extLst>
          </p:cNvPr>
          <p:cNvSpPr txBox="1"/>
          <p:nvPr/>
        </p:nvSpPr>
        <p:spPr>
          <a:xfrm>
            <a:off x="6840823" y="2212858"/>
            <a:ext cx="50752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Pontos analisados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2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787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B97E34-D9D0-6054-632B-830985B1F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AD479-AD58-F6E8-602F-2697C4FCE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</a:rPr>
              <a:t>Conclusão</a:t>
            </a:r>
            <a:endParaRPr lang="pt-BR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7021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2349</TotalTime>
  <Words>299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do Office</vt:lpstr>
      <vt:lpstr>Tech-Challenge-Fase-1-FIAP</vt:lpstr>
      <vt:lpstr>Introdução — NPS e CSAT</vt:lpstr>
      <vt:lpstr>Entendimento do negócio - Benchmark</vt:lpstr>
      <vt:lpstr>Entendimento do negócio - Data Canvas</vt:lpstr>
      <vt:lpstr>Entendimento dos Dados</vt:lpstr>
      <vt:lpstr>Análise exploratória de dados</vt:lpstr>
      <vt:lpstr>Análise exploratória de dados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Ederson M DOS Santos</dc:creator>
  <cp:lastModifiedBy>Ederson M DOS Santos</cp:lastModifiedBy>
  <cp:revision>3</cp:revision>
  <dcterms:created xsi:type="dcterms:W3CDTF">2026-04-14T23:32:32Z</dcterms:created>
  <dcterms:modified xsi:type="dcterms:W3CDTF">2026-04-25T14:33:09Z</dcterms:modified>
</cp:coreProperties>
</file>